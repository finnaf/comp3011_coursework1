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1B229B-5755-A91C-24E6-2C0D806BB8C3}" v="592" dt="2026-03-13T23:45:10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3011-coursework1-vdc3.onrender.com" TargetMode="External"/><Relationship Id="rId2" Type="http://schemas.openxmlformats.org/officeDocument/2006/relationships/hyperlink" Target="https://github.com/finnaf/COMP3011_Coursework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19319"/>
            <a:ext cx="9144000" cy="1205948"/>
          </a:xfrm>
        </p:spPr>
        <p:txBody>
          <a:bodyPr/>
          <a:lstStyle/>
          <a:p>
            <a:r>
              <a:rPr lang="en-GB"/>
              <a:t>England Storm Overflow API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1734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COMP3011 Web Services and Web Data</a:t>
            </a:r>
            <a:br>
              <a:rPr lang="en-GB" dirty="0"/>
            </a:br>
            <a:r>
              <a:rPr lang="en-GB" dirty="0"/>
              <a:t>Coursework 1</a:t>
            </a:r>
            <a:br>
              <a:rPr lang="en-GB" dirty="0"/>
            </a:br>
            <a:r>
              <a:rPr lang="en-GB" dirty="0"/>
              <a:t>Finn </a:t>
            </a:r>
            <a:r>
              <a:rPr lang="en-GB" dirty="0" err="1"/>
              <a:t>af</a:t>
            </a:r>
            <a:r>
              <a:rPr lang="en-GB" dirty="0"/>
              <a:t> </a:t>
            </a:r>
            <a:r>
              <a:rPr lang="en-GB" dirty="0" err="1"/>
              <a:t>Forselles</a:t>
            </a:r>
            <a:endParaRPr lang="en-US" dirty="0"/>
          </a:p>
        </p:txBody>
      </p:sp>
      <p:pic>
        <p:nvPicPr>
          <p:cNvPr id="4" name="Picture 3" descr="Get your free Surfers Against Sewage sticker - Surfers ...">
            <a:extLst>
              <a:ext uri="{FF2B5EF4-FFF2-40B4-BE49-F238E27FC236}">
                <a16:creationId xmlns:a16="http://schemas.microsoft.com/office/drawing/2014/main" id="{2F923D12-2298-8504-BF3F-C6E40E696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17" y="3434521"/>
            <a:ext cx="2959653" cy="2915479"/>
          </a:xfrm>
          <a:prstGeom prst="rect">
            <a:avLst/>
          </a:prstGeom>
        </p:spPr>
      </p:pic>
      <p:pic>
        <p:nvPicPr>
          <p:cNvPr id="5" name="Picture 4" descr="University of Leeds Logo PNG Vector (EPS) Free Download">
            <a:extLst>
              <a:ext uri="{FF2B5EF4-FFF2-40B4-BE49-F238E27FC236}">
                <a16:creationId xmlns:a16="http://schemas.microsoft.com/office/drawing/2014/main" id="{056CF842-5C15-2EA2-B4F2-976F76E71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03" t="34677" r="-1205" b="35081"/>
          <a:stretch>
            <a:fillRect/>
          </a:stretch>
        </p:blipFill>
        <p:spPr>
          <a:xfrm>
            <a:off x="9274313" y="224183"/>
            <a:ext cx="2798303" cy="82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4570986-9F4D-52FB-976E-906D8C4F1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8" y="1451803"/>
            <a:ext cx="5867400" cy="16573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82718F-90D3-E373-5ED8-7A2B9F3C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78" y="122168"/>
            <a:ext cx="10515600" cy="1325563"/>
          </a:xfrm>
        </p:spPr>
        <p:txBody>
          <a:bodyPr/>
          <a:lstStyle/>
          <a:p>
            <a:r>
              <a:rPr lang="en-GB"/>
              <a:t>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29255-E9FB-8D5A-D098-033CB0B1C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722" y="3912842"/>
            <a:ext cx="1724992" cy="5523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Request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15EE80-20AD-C475-B450-DB7406340BA3}"/>
              </a:ext>
            </a:extLst>
          </p:cNvPr>
          <p:cNvSpPr txBox="1">
            <a:spLocks/>
          </p:cNvSpPr>
          <p:nvPr/>
        </p:nvSpPr>
        <p:spPr>
          <a:xfrm>
            <a:off x="4966252" y="3910633"/>
            <a:ext cx="1724992" cy="5523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Route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F0979F-7BAB-9CB2-A618-D4C23F5000A6}"/>
              </a:ext>
            </a:extLst>
          </p:cNvPr>
          <p:cNvCxnSpPr>
            <a:cxnSpLocks/>
          </p:cNvCxnSpPr>
          <p:nvPr/>
        </p:nvCxnSpPr>
        <p:spPr>
          <a:xfrm flipV="1">
            <a:off x="6107042" y="4086087"/>
            <a:ext cx="2639390" cy="11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274C7E-CC67-C15E-86D8-0066D642EF03}"/>
              </a:ext>
            </a:extLst>
          </p:cNvPr>
          <p:cNvSpPr txBox="1">
            <a:spLocks/>
          </p:cNvSpPr>
          <p:nvPr/>
        </p:nvSpPr>
        <p:spPr>
          <a:xfrm>
            <a:off x="8743121" y="3921677"/>
            <a:ext cx="1724992" cy="5523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Database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A2C002-37BC-235A-FD35-4CC0E96E3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547" y="543892"/>
            <a:ext cx="5422210" cy="4803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0A883E-6CB4-B021-840E-80F2062513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7311" b="-2941"/>
          <a:stretch>
            <a:fillRect/>
          </a:stretch>
        </p:blipFill>
        <p:spPr>
          <a:xfrm>
            <a:off x="6687861" y="3117021"/>
            <a:ext cx="5045578" cy="3922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F3C386-F091-EFB8-4270-26C0DFDE4E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551" t="38235" r="686" b="-8419"/>
          <a:stretch>
            <a:fillRect/>
          </a:stretch>
        </p:blipFill>
        <p:spPr>
          <a:xfrm>
            <a:off x="8984904" y="3470413"/>
            <a:ext cx="2958861" cy="267402"/>
          </a:xfrm>
          <a:prstGeom prst="rect">
            <a:avLst/>
          </a:prstGeom>
        </p:spPr>
      </p:pic>
      <p:pic>
        <p:nvPicPr>
          <p:cNvPr id="19" name="Picture 1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85038F6-0E1D-E0F2-01F2-BB8AA513B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60" y="3242849"/>
            <a:ext cx="4543425" cy="504825"/>
          </a:xfrm>
          <a:prstGeom prst="rect">
            <a:avLst/>
          </a:prstGeom>
        </p:spPr>
      </p:pic>
      <p:pic>
        <p:nvPicPr>
          <p:cNvPr id="20" name="Picture 19" descr="A black screen with pink and white text&#10;&#10;AI-generated content may be incorrect.">
            <a:extLst>
              <a:ext uri="{FF2B5EF4-FFF2-40B4-BE49-F238E27FC236}">
                <a16:creationId xmlns:a16="http://schemas.microsoft.com/office/drawing/2014/main" id="{449D35D8-42C1-F223-5CAA-70CD00411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04" y="4556193"/>
            <a:ext cx="2212423" cy="804655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2C65CEC-93B4-1727-5BD2-53EEE36FA67F}"/>
              </a:ext>
            </a:extLst>
          </p:cNvPr>
          <p:cNvCxnSpPr>
            <a:cxnSpLocks/>
          </p:cNvCxnSpPr>
          <p:nvPr/>
        </p:nvCxnSpPr>
        <p:spPr>
          <a:xfrm flipH="1">
            <a:off x="6107041" y="4207565"/>
            <a:ext cx="2617306" cy="11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B6FC43-2419-372F-AB8E-6046226A2B88}"/>
              </a:ext>
            </a:extLst>
          </p:cNvPr>
          <p:cNvCxnSpPr>
            <a:cxnSpLocks/>
          </p:cNvCxnSpPr>
          <p:nvPr/>
        </p:nvCxnSpPr>
        <p:spPr>
          <a:xfrm flipV="1">
            <a:off x="2285998" y="4086087"/>
            <a:ext cx="2639390" cy="11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7B815A-BD45-6CA3-6293-51DCFC020E07}"/>
              </a:ext>
            </a:extLst>
          </p:cNvPr>
          <p:cNvCxnSpPr>
            <a:cxnSpLocks/>
          </p:cNvCxnSpPr>
          <p:nvPr/>
        </p:nvCxnSpPr>
        <p:spPr>
          <a:xfrm flipH="1">
            <a:off x="2285997" y="4207565"/>
            <a:ext cx="2617306" cy="11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8BE5B5E-79AC-6324-BC0B-3E1C9F614C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711" t="2126" r="-24" b="46"/>
          <a:stretch>
            <a:fillRect/>
          </a:stretch>
        </p:blipFill>
        <p:spPr>
          <a:xfrm>
            <a:off x="6190094" y="4906755"/>
            <a:ext cx="2616367" cy="8852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BE1FEB-CEB0-A134-0F48-73C5251F93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351" y="4398065"/>
            <a:ext cx="37909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1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8410-4D41-0ECD-0AF0-1999FCA7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E22F-28BB-FAF0-EAE2-0E080143E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Geospatial filtering</a:t>
            </a:r>
          </a:p>
          <a:p>
            <a:r>
              <a:rPr lang="en-GB"/>
              <a:t>Hashed API keys</a:t>
            </a:r>
          </a:p>
          <a:p>
            <a:r>
              <a:rPr lang="en-GB"/>
              <a:t>Rate limiting</a:t>
            </a:r>
            <a:endParaRPr lang="en-GB" dirty="0"/>
          </a:p>
          <a:p>
            <a:r>
              <a:rPr lang="en-GB"/>
              <a:t>Statistical analysis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D5DE4-2B24-787A-6F2E-861FD63FE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037" y="1713179"/>
            <a:ext cx="3424984" cy="328556"/>
          </a:xfrm>
          <a:prstGeom prst="rect">
            <a:avLst/>
          </a:prstGeom>
        </p:spPr>
      </p:pic>
      <p:pic>
        <p:nvPicPr>
          <p:cNvPr id="5" name="Picture 4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8DCA8454-30EA-22CE-C097-0489F4232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918" y="2342746"/>
            <a:ext cx="4905949" cy="933106"/>
          </a:xfrm>
          <a:prstGeom prst="rect">
            <a:avLst/>
          </a:prstGeom>
        </p:spPr>
      </p:pic>
      <p:pic>
        <p:nvPicPr>
          <p:cNvPr id="7" name="Picture 6" descr="A close-up of a code&#10;&#10;AI-generated content may be incorrect.">
            <a:extLst>
              <a:ext uri="{FF2B5EF4-FFF2-40B4-BE49-F238E27FC236}">
                <a16:creationId xmlns:a16="http://schemas.microsoft.com/office/drawing/2014/main" id="{66025F15-9070-923B-23EB-0D4F2A6EB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793" y="3631148"/>
            <a:ext cx="2657475" cy="752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FB931E-D97A-C76B-C1C2-D0D352732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280" y="4546580"/>
            <a:ext cx="2476500" cy="390525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23A39AE-36F7-6BF3-3E22-B2282F255E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658" y="4372836"/>
            <a:ext cx="2602275" cy="2050858"/>
          </a:xfrm>
          <a:prstGeom prst="rect">
            <a:avLst/>
          </a:prstGeom>
        </p:spPr>
      </p:pic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6664B60-B1FE-64BC-BFFA-9CD08FD3D1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8793" y="3629311"/>
            <a:ext cx="25908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1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21DD-04EB-399D-15B2-2B0831F5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30" y="265734"/>
            <a:ext cx="10515600" cy="1325563"/>
          </a:xfrm>
        </p:spPr>
        <p:txBody>
          <a:bodyPr/>
          <a:lstStyle/>
          <a:p>
            <a:r>
              <a:rPr lang="en-GB"/>
              <a:t>Testing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E8967DC-5901-55D4-4EAD-FAE2BE12F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053" y="414"/>
            <a:ext cx="8998501" cy="6857171"/>
          </a:xfrm>
          <a:prstGeom prst="rect">
            <a:avLst/>
          </a:prstGeom>
        </p:spPr>
      </p:pic>
      <p:pic>
        <p:nvPicPr>
          <p:cNvPr id="5" name="Picture 4" descr="A computer code with red and blue text&#10;&#10;AI-generated content may be incorrect.">
            <a:extLst>
              <a:ext uri="{FF2B5EF4-FFF2-40B4-BE49-F238E27FC236}">
                <a16:creationId xmlns:a16="http://schemas.microsoft.com/office/drawing/2014/main" id="{9C08F906-1422-1520-3079-14A1D1E18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54" y="2902294"/>
            <a:ext cx="2998719" cy="81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1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7ECF-7495-0EA6-49FB-C7122A92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Deployment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582FE5-F244-7F52-BF41-F84110EE3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403" y="1687914"/>
            <a:ext cx="8803796" cy="4920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237AA8-E9C4-C188-670F-9DD368B117AB}"/>
              </a:ext>
            </a:extLst>
          </p:cNvPr>
          <p:cNvSpPr txBox="1"/>
          <p:nvPr/>
        </p:nvSpPr>
        <p:spPr>
          <a:xfrm>
            <a:off x="4556032" y="843030"/>
            <a:ext cx="56939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ea typeface="+mn-lt"/>
                <a:cs typeface="+mn-lt"/>
              </a:rPr>
              <a:t>https://comp3011-coursework1-vdc3.onrender.com/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6066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F64D-1B9C-F0CC-C459-379C3178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88E61-A1EC-4363-2484-AFA15FBE7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504" y="169310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/>
              <a:t>Used carefully throughout the project.</a:t>
            </a:r>
            <a:endParaRPr lang="en-US" sz="2400"/>
          </a:p>
          <a:p>
            <a:pPr marL="0" indent="0">
              <a:buNone/>
            </a:pPr>
            <a:r>
              <a:rPr lang="en-GB" sz="2400" dirty="0"/>
              <a:t>Even for this </a:t>
            </a:r>
            <a:r>
              <a:rPr lang="en-GB" sz="2400"/>
              <a:t>PowerPoint</a:t>
            </a:r>
            <a:r>
              <a:rPr lang="en-GB" sz="2400" dirty="0"/>
              <a:t>!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/>
              <a:t>Importantly:</a:t>
            </a:r>
            <a:endParaRPr lang="en-GB" sz="2400" dirty="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GB" sz="2400"/>
              <a:t>I learnt how to use new software</a:t>
            </a:r>
            <a:r>
              <a:rPr lang="en-GB" sz="2400" dirty="0"/>
              <a:t>.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GB" sz="2400" dirty="0"/>
              <a:t>I could do it even better </a:t>
            </a:r>
            <a:r>
              <a:rPr lang="en-GB" sz="2400"/>
              <a:t>next time.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GB" sz="2400"/>
              <a:t>It was a tool my brain used, not a </a:t>
            </a:r>
            <a:br>
              <a:rPr lang="en-GB" sz="2400" dirty="0"/>
            </a:br>
            <a:r>
              <a:rPr lang="en-GB" sz="2400"/>
              <a:t>new brain to get my degree for me.</a:t>
            </a:r>
            <a:endParaRPr lang="en-GB" sz="2400" dirty="0"/>
          </a:p>
        </p:txBody>
      </p:sp>
      <p:pic>
        <p:nvPicPr>
          <p:cNvPr id="4" name="Picture 3" descr="A black and white screen shot of a black and white screen shot of a black and white screen shot of a black and white screen shot of a black and white screen shot of a black and white&#10;&#10;AI-generated content may be incorrect.">
            <a:extLst>
              <a:ext uri="{FF2B5EF4-FFF2-40B4-BE49-F238E27FC236}">
                <a16:creationId xmlns:a16="http://schemas.microsoft.com/office/drawing/2014/main" id="{BB1D89DB-496B-4377-1E46-0A0999D01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785" y="1556440"/>
            <a:ext cx="5851387" cy="4485033"/>
          </a:xfrm>
          <a:prstGeom prst="rect">
            <a:avLst/>
          </a:prstGeom>
        </p:spPr>
      </p:pic>
      <p:pic>
        <p:nvPicPr>
          <p:cNvPr id="5" name="Picture 4" descr="Claude - Claude">
            <a:extLst>
              <a:ext uri="{FF2B5EF4-FFF2-40B4-BE49-F238E27FC236}">
                <a16:creationId xmlns:a16="http://schemas.microsoft.com/office/drawing/2014/main" id="{FC585916-6AA5-95DD-5EA3-46CD90C02B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96" b="14286"/>
          <a:stretch>
            <a:fillRect/>
          </a:stretch>
        </p:blipFill>
        <p:spPr>
          <a:xfrm>
            <a:off x="6866835" y="227909"/>
            <a:ext cx="2633390" cy="1333658"/>
          </a:xfrm>
          <a:prstGeom prst="rect">
            <a:avLst/>
          </a:prstGeom>
        </p:spPr>
      </p:pic>
      <p:pic>
        <p:nvPicPr>
          <p:cNvPr id="6" name="Picture 5" descr="Google's Gemini seeks edge in AI for online shopping - Maaal">
            <a:extLst>
              <a:ext uri="{FF2B5EF4-FFF2-40B4-BE49-F238E27FC236}">
                <a16:creationId xmlns:a16="http://schemas.microsoft.com/office/drawing/2014/main" id="{ED67BB2E-38F7-181D-7276-09AE323A15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6" t="18435" r="476" b="8696"/>
          <a:stretch>
            <a:fillRect/>
          </a:stretch>
        </p:blipFill>
        <p:spPr>
          <a:xfrm>
            <a:off x="5373479" y="675171"/>
            <a:ext cx="1776364" cy="7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75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5C33-39B2-8E80-CF3D-EC2DB20B7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623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  <a:hlinkClick r:id="rId2"/>
              </a:rPr>
              <a:t>https://github.com/finnaf/COMP3011_Coursework1</a:t>
            </a:r>
            <a:endParaRPr lang="en-GB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  <a:hlinkClick r:id="rId3"/>
              </a:rPr>
              <a:t>https://comp3011-coursework1-vdc3.onrender.com</a:t>
            </a:r>
          </a:p>
          <a:p>
            <a:r>
              <a:rPr lang="en-GB" dirty="0">
                <a:ea typeface="+mn-lt"/>
                <a:cs typeface="+mn-lt"/>
              </a:rPr>
              <a:t>https://www.streamwaterdata.co.uk/pages/storm-overflows-data</a:t>
            </a:r>
          </a:p>
          <a:p>
            <a:r>
              <a:rPr lang="en-GB" dirty="0">
                <a:ea typeface="+mn-lt"/>
                <a:cs typeface="+mn-lt"/>
              </a:rPr>
              <a:t>https://www.sas.org.uk/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CCD884-EC2A-1B1A-57E1-D4AAF95B6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Links</a:t>
            </a:r>
            <a:endParaRPr lang="en-GB" dirty="0"/>
          </a:p>
        </p:txBody>
      </p:sp>
      <p:pic>
        <p:nvPicPr>
          <p:cNvPr id="6" name="Picture 5" descr="Fresh wave of sewage pollution hits Britain's beaches - BBC News">
            <a:extLst>
              <a:ext uri="{FF2B5EF4-FFF2-40B4-BE49-F238E27FC236}">
                <a16:creationId xmlns:a16="http://schemas.microsoft.com/office/drawing/2014/main" id="{6E762389-52BE-EB74-5545-C9193CE1E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42" y="3976204"/>
            <a:ext cx="5132456" cy="2881243"/>
          </a:xfrm>
          <a:prstGeom prst="rect">
            <a:avLst/>
          </a:prstGeom>
        </p:spPr>
      </p:pic>
      <p:pic>
        <p:nvPicPr>
          <p:cNvPr id="7" name="Picture 6" descr="Water pollution: facts &amp; figures - Surfers Against Sewage">
            <a:extLst>
              <a:ext uri="{FF2B5EF4-FFF2-40B4-BE49-F238E27FC236}">
                <a16:creationId xmlns:a16="http://schemas.microsoft.com/office/drawing/2014/main" id="{F1017FB4-19FF-4E99-6603-70F6D7097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175" y="3869702"/>
            <a:ext cx="5411304" cy="2994854"/>
          </a:xfrm>
          <a:prstGeom prst="rect">
            <a:avLst/>
          </a:prstGeom>
        </p:spPr>
      </p:pic>
      <p:pic>
        <p:nvPicPr>
          <p:cNvPr id="8" name="Picture 7" descr="Surfers Against Sewage - Wikipedia">
            <a:extLst>
              <a:ext uri="{FF2B5EF4-FFF2-40B4-BE49-F238E27FC236}">
                <a16:creationId xmlns:a16="http://schemas.microsoft.com/office/drawing/2014/main" id="{E4F41F3F-4AB4-ED06-ED6B-02EF51E20F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0064" y="151845"/>
            <a:ext cx="3205785" cy="133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50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England Storm Overflow API</vt:lpstr>
      <vt:lpstr>Pipeline</vt:lpstr>
      <vt:lpstr>Key features</vt:lpstr>
      <vt:lpstr>Testing</vt:lpstr>
      <vt:lpstr>Deployment</vt:lpstr>
      <vt:lpstr>Generative AI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221</cp:revision>
  <dcterms:created xsi:type="dcterms:W3CDTF">2026-03-13T22:44:46Z</dcterms:created>
  <dcterms:modified xsi:type="dcterms:W3CDTF">2026-03-13T23:45:41Z</dcterms:modified>
</cp:coreProperties>
</file>